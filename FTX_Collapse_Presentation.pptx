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0D4AA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6C63FF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FTX Collapse: Ethical Decision-Making</a:t>
            </a:r>
            <a:br/>
            <a:r>
              <a:t>and the Theory of Planned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AA"/>
                </a:solidFill>
                <a:latin typeface="Calibri"/>
              </a:defRPr>
            </a:pPr>
            <a:r>
              <a:t>Dipaliben Patel  |  NF1011849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Tech Trends &amp; Applications (MGMT-670-26)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537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Dr. Sina 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01183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University of Niagara Falls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4865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 &amp; Technology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What Was FTX?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Cryptocurrency exchange founded by
Sam Bankman-Fried in 2019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Used blockchain and cryptocurrency
technology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Offered crypto trading, derivatives,
and tokenized assets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Became one of the largest crypto
platforms globally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Calibri"/>
              </a:defRPr>
            </a:pPr>
            <a:r>
              <a:t>Technology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C63FF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Fast digital transactions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C63FF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Decentralized financial systems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C63FF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Global accessibility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C63FF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Lower transaction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383280" cy="32004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Market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Challenged traditional banking systems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Increased adoption of digital finance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Attracted millions of investors
worldwide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50800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FTX was seen as an innovative company that could reshape the future of financial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59E"/>
                </a:solidFill>
                <a:latin typeface="Calibri"/>
              </a:defRPr>
            </a:pPr>
            <a:r>
              <a:t>(Nakamoto, 2008)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Theory of Planned Behaviour (TPB)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Attitudes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0175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Calibri"/>
              </a:defRPr>
            </a:pPr>
            <a:r>
              <a:t>Subjective</a:t>
            </a:r>
            <a:br/>
            <a:r>
              <a:t>Norms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3891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Calibri"/>
              </a:defRPr>
            </a:pPr>
            <a:r>
              <a:t>Perceived</a:t>
            </a:r>
            <a:br/>
            <a:r>
              <a:t>Behavioural Control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1920240"/>
            <a:ext cx="1097280" cy="36576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206240" y="3291840"/>
            <a:ext cx="1097280" cy="36576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206240" y="4663440"/>
            <a:ext cx="1097280" cy="36576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37744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Calibri"/>
              </a:defRPr>
            </a:pPr>
            <a:r>
              <a:t>Intentions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29600" y="2651760"/>
            <a:ext cx="1097280" cy="365760"/>
          </a:xfrm>
          <a:prstGeom prst="rightArrow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237744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Behaviour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303520"/>
            <a:ext cx="10058400" cy="82296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5303520"/>
            <a:ext cx="50800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39496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Calibri"/>
              </a:defRPr>
            </a:pPr>
            <a:r>
              <a:t>APPLICATION TO FTX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6235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TPB helps explain why investors trusted and adopted FTX despite financial and ethical risks.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Attitudes &amp; Subjective Norms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Attitudes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Cryptocurrency viewed as modern and profitable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FTX promoted innovation and financial freedom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Investors believed crypto was the future of finance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120640" cy="82296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5080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49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Positive attitudes toward cryptocurrency encouraged users to invest despite limited regulation and transparency concerns.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Subjective Norms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6C63FF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Celebrities and influencers promoted FTX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C63FF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Sports sponsorships increased public trust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C63FF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Social media created pressure to participate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212080" cy="82296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0800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Public endorsements made FTX appear trustworthy and increased investor confidence.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59E"/>
                </a:solidFill>
                <a:latin typeface="Calibri"/>
              </a:defRPr>
            </a:pPr>
            <a:r>
              <a:t>(Kharif &amp; Allison, 2022)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Perceived Behavioural Control, Intentions &amp; Behaviour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5603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Perceived Behavioural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FTX made trading appear easy
and accessible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Users believed they understood
crypto risks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383280" cy="77724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50800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Many investors overestimated their understanding of cryptocurrency markets and financial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88720"/>
            <a:ext cx="3383280" cy="25603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Calibri"/>
              </a:defRPr>
            </a:pPr>
            <a:r>
              <a:t>Intentions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83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D93D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Positive attitudes and social influence
increased investor interest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D93D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More people intended to use FTX
for trading and investment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88720"/>
            <a:ext cx="3383280" cy="25603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Millions invested money into FTX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6B6B"/>
                </a:solidFill>
                <a:latin typeface="Calibri"/>
              </a:rPr>
              <a:t>▸  </a:t>
            </a:r>
            <a:r>
              <a:rPr sz="1200">
                <a:solidFill>
                  <a:srgbClr val="B0B8C8"/>
                </a:solidFill>
                <a:latin typeface="Calibri"/>
              </a:rPr>
              <a:t>Rapid adoption increased company
growth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080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Ethical failures and misuse of customer funds eventually destroyed investor trust and led to the collapse of FTX.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59E"/>
                </a:solidFill>
                <a:latin typeface="Calibri"/>
              </a:defRPr>
            </a:pPr>
            <a:r>
              <a:t>(U.S. Securities and Exchange Commission [SEC], 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PESTEL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Political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Governments increasing</a:t>
            </a:r>
            <a:br/>
            <a:r>
              <a:t>crypto regulations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1887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39" y="1371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Economic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965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Cryptocurrency market</a:t>
            </a:r>
            <a:br/>
            <a:r>
              <a:t>volatility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9" y="11887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79" y="1371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1965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Younger generations adopting</a:t>
            </a:r>
            <a:br/>
            <a:r>
              <a:t>digital finance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4747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520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alibri"/>
              </a:defRPr>
            </a:pPr>
            <a:r>
              <a:t>Technological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Continued growth of</a:t>
            </a:r>
            <a:br/>
            <a:r>
              <a:t>blockchain innovation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2918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39" y="34747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3493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799" y="3520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Calibri"/>
              </a:defRPr>
            </a:pPr>
            <a:r>
              <a:t>Environmental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069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Concerns about crypto</a:t>
            </a:r>
            <a:br/>
            <a:r>
              <a:t>energy consumption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9" y="32918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79" y="34747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9" y="3493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39" y="3520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Legal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4069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Stronger compliance and</a:t>
            </a:r>
            <a:br/>
            <a:r>
              <a:t>reporting requirements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50800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5778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The future success of cryptocurrency businesses will depend on innovation, transparency, and regulatory compliance.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Growth of digital finance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Faster global transactions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Increased financial accessibility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6B6B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Weak regulation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6B6B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Cybersecurity risks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6B6B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Loss of investor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93D"/>
                </a:solidFill>
                <a:latin typeface="Calibri"/>
              </a:defRPr>
            </a:pPr>
            <a:r>
              <a:t>Strategic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D93D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Need for stronger governance
systems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D93D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Improved transparency and
accountability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D93D"/>
                </a:solidFill>
                <a:latin typeface="Calibri"/>
              </a:rPr>
              <a:t>▸  </a:t>
            </a:r>
            <a:r>
              <a:rPr sz="1400">
                <a:solidFill>
                  <a:srgbClr val="B0B8C8"/>
                </a:solidFill>
                <a:latin typeface="Calibri"/>
              </a:rPr>
              <a:t>Better financial risk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50800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DEEP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The collapse of FTX demonstrated that innovation without proper governance can create major financial and reputational risks for businesses.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120640" cy="29260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▸  </a:t>
            </a:r>
            <a:r>
              <a:rPr sz="1500">
                <a:solidFill>
                  <a:srgbClr val="B0B8C8"/>
                </a:solidFill>
                <a:latin typeface="Calibri"/>
              </a:rPr>
              <a:t>FTX transformed digital finance through innovation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▸  </a:t>
            </a:r>
            <a:r>
              <a:rPr sz="1500">
                <a:solidFill>
                  <a:srgbClr val="B0B8C8"/>
                </a:solidFill>
                <a:latin typeface="Calibri"/>
              </a:rPr>
              <a:t>Weak governance and unethical decisions caused its collapse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▸  </a:t>
            </a:r>
            <a:r>
              <a:rPr sz="1500">
                <a:solidFill>
                  <a:srgbClr val="B0B8C8"/>
                </a:solidFill>
                <a:latin typeface="Calibri"/>
              </a:rPr>
              <a:t>Technology alone is not enough for long-term success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29260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▸  </a:t>
            </a:r>
            <a:r>
              <a:rPr sz="1500">
                <a:solidFill>
                  <a:srgbClr val="B0B8C8"/>
                </a:solidFill>
                <a:latin typeface="Calibri"/>
              </a:rPr>
              <a:t>Strengthen internal controls and governance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▸  </a:t>
            </a:r>
            <a:r>
              <a:rPr sz="1500">
                <a:solidFill>
                  <a:srgbClr val="B0B8C8"/>
                </a:solidFill>
                <a:latin typeface="Calibri"/>
              </a:rPr>
              <a:t>Improve transparency with investors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▸  </a:t>
            </a:r>
            <a:r>
              <a:rPr sz="1500">
                <a:solidFill>
                  <a:srgbClr val="B0B8C8"/>
                </a:solidFill>
                <a:latin typeface="Calibri"/>
              </a:rPr>
              <a:t>Follow regulatory standards early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▸  </a:t>
            </a:r>
            <a:r>
              <a:rPr sz="1500">
                <a:solidFill>
                  <a:srgbClr val="B0B8C8"/>
                </a:solidFill>
                <a:latin typeface="Calibri"/>
              </a:rPr>
              <a:t>Balance innovation with ethical 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50800" cy="109728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D"/>
                </a:solidFill>
                <a:latin typeface="Calibri"/>
              </a:defRPr>
            </a:pPr>
            <a:r>
              <a:t>FINAL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92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Businesses adopting emerging technologies must focus not only on growth, but also on trust, accountability, and responsible leadership.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6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50292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APA 7th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B0B8C8"/>
                </a:solidFill>
                <a:latin typeface="Calibri"/>
              </a:defRPr>
            </a:pPr>
            <a:r>
              <a:t>Christensen, C. M. (1997). The innovator’s dilemma: When new technologies cause great firms to fail. Harvard Business School Press.</a:t>
            </a:r>
          </a:p>
          <a:p>
            <a:pPr>
              <a:spcAft>
                <a:spcPts val="1400"/>
              </a:spcAft>
              <a:defRPr sz="1300">
                <a:solidFill>
                  <a:srgbClr val="B0B8C8"/>
                </a:solidFill>
                <a:latin typeface="Calibri"/>
              </a:defRPr>
            </a:pPr>
            <a:r>
              <a:t>Jensen, M. C., &amp; Meckling, W. H. (1976). Theory of the firm: Managerial behavior, agency costs and ownership structure. Journal of Financial Economics, 3(4), 305–360.</a:t>
            </a:r>
          </a:p>
          <a:p>
            <a:pPr>
              <a:spcAft>
                <a:spcPts val="1400"/>
              </a:spcAft>
              <a:defRPr sz="1300">
                <a:solidFill>
                  <a:srgbClr val="B0B8C8"/>
                </a:solidFill>
                <a:latin typeface="Calibri"/>
              </a:defRPr>
            </a:pPr>
            <a:r>
              <a:t>Kharif, O., &amp; Allison, I. (2022, November 8). Binance walks away from FTX rescue, leaving the crypto exchange on brink of collapse. CoinDesk.</a:t>
            </a:r>
          </a:p>
          <a:p>
            <a:pPr>
              <a:spcAft>
                <a:spcPts val="1400"/>
              </a:spcAft>
              <a:defRPr sz="1300">
                <a:solidFill>
                  <a:srgbClr val="B0B8C8"/>
                </a:solidFill>
                <a:latin typeface="Calibri"/>
              </a:defRPr>
            </a:pPr>
            <a:r>
              <a:t>Nakamoto, S. (2008). Bitcoin: A peer-to-peer electronic cash system. https://bitcoin.org/bitcoin.pdf</a:t>
            </a:r>
          </a:p>
          <a:p>
            <a:pPr>
              <a:spcAft>
                <a:spcPts val="1400"/>
              </a:spcAft>
              <a:defRPr sz="1300">
                <a:solidFill>
                  <a:srgbClr val="B0B8C8"/>
                </a:solidFill>
                <a:latin typeface="Calibri"/>
              </a:defRPr>
            </a:pPr>
            <a:r>
              <a:t>U.S. Securities and Exchange Commission. (2023). SEC charges Sam Bankman-Fried with fraud and securities violations. https://www.sec.gov/news/press-release/2023-219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59E"/>
                </a:solidFill>
                <a:latin typeface="Calibri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